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b="1" dirty="0">
                <a:solidFill>
                  <a:srgbClr val="C00000"/>
                </a:solidFill>
              </a:rPr>
              <a:t>Heirloom: digital legacy, preservation &amp; access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Minor Project – CAP3170</a:t>
            </a:r>
          </a:p>
          <a:p>
            <a:r>
              <a:rPr lang="en-US" dirty="0"/>
              <a:t>BCA Project – Department of Computer Applications, Manipal University Jaipur</a:t>
            </a:r>
          </a:p>
        </p:txBody>
      </p:sp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33B0-FCCD-2205-1206-B3F170AEF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Team Members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41F11-6947-7142-C8FD-A616397EEC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Kunal choudhary</a:t>
            </a:r>
          </a:p>
          <a:p>
            <a:r>
              <a:rPr lang="en-IN" dirty="0"/>
              <a:t>priyansh</a:t>
            </a:r>
          </a:p>
          <a:p>
            <a:r>
              <a:rPr lang="en-IN" dirty="0"/>
              <a:t>Vigya Upadhyay</a:t>
            </a:r>
          </a:p>
        </p:txBody>
      </p:sp>
    </p:spTree>
    <p:extLst>
      <p:ext uri="{BB962C8B-B14F-4D97-AF65-F5344CB8AC3E}">
        <p14:creationId xmlns:p14="http://schemas.microsoft.com/office/powerpoint/2010/main" val="108654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8BD-8DFE-2868-0D0D-9004EB5DB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Index</a:t>
            </a:r>
          </a:p>
        </p:txBody>
      </p:sp>
      <p:sp>
        <p:nvSpPr>
          <p:cNvPr id="11" name="Index row 11"/>
          <p:cNvSpPr/>
          <p:nvPr/>
        </p:nvSpPr>
        <p:spPr>
          <a:xfrm>
            <a:off x="457200" y="1508760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Badge 12"/>
          <p:cNvSpPr/>
          <p:nvPr/>
        </p:nvSpPr>
        <p:spPr>
          <a:xfrm>
            <a:off x="566928" y="1581912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Index item 13"/>
          <p:cNvSpPr txBox="1"/>
          <p:nvPr/>
        </p:nvSpPr>
        <p:spPr>
          <a:xfrm>
            <a:off x="1188720" y="1508760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Introduction and Motivation</a:t>
            </a:r>
          </a:p>
        </p:txBody>
      </p:sp>
      <p:sp>
        <p:nvSpPr>
          <p:cNvPr id="14" name="Index row 14"/>
          <p:cNvSpPr/>
          <p:nvPr/>
        </p:nvSpPr>
        <p:spPr>
          <a:xfrm>
            <a:off x="457200" y="2212848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5" name="Badge 15"/>
          <p:cNvSpPr/>
          <p:nvPr/>
        </p:nvSpPr>
        <p:spPr>
          <a:xfrm>
            <a:off x="566928" y="228600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Index item 16"/>
          <p:cNvSpPr txBox="1"/>
          <p:nvPr/>
        </p:nvSpPr>
        <p:spPr>
          <a:xfrm>
            <a:off x="1188720" y="2212848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Objectives</a:t>
            </a:r>
          </a:p>
        </p:txBody>
      </p:sp>
      <p:sp>
        <p:nvSpPr>
          <p:cNvPr id="17" name="Index row 17"/>
          <p:cNvSpPr/>
          <p:nvPr/>
        </p:nvSpPr>
        <p:spPr>
          <a:xfrm>
            <a:off x="457200" y="2916936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8" name="Badge 18"/>
          <p:cNvSpPr/>
          <p:nvPr/>
        </p:nvSpPr>
        <p:spPr>
          <a:xfrm>
            <a:off x="566928" y="299008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Index item 19"/>
          <p:cNvSpPr txBox="1"/>
          <p:nvPr/>
        </p:nvSpPr>
        <p:spPr>
          <a:xfrm>
            <a:off x="1188720" y="2916936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Existing System and Limitations</a:t>
            </a:r>
          </a:p>
        </p:txBody>
      </p:sp>
      <p:sp>
        <p:nvSpPr>
          <p:cNvPr id="20" name="Index row 20"/>
          <p:cNvSpPr/>
          <p:nvPr/>
        </p:nvSpPr>
        <p:spPr>
          <a:xfrm>
            <a:off x="457200" y="3621024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1" name="Badge 21"/>
          <p:cNvSpPr/>
          <p:nvPr/>
        </p:nvSpPr>
        <p:spPr>
          <a:xfrm>
            <a:off x="566928" y="3694176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Index item 22"/>
          <p:cNvSpPr txBox="1"/>
          <p:nvPr/>
        </p:nvSpPr>
        <p:spPr>
          <a:xfrm>
            <a:off x="1188720" y="3621024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Proposed System: Key Modules</a:t>
            </a:r>
          </a:p>
        </p:txBody>
      </p:sp>
      <p:sp>
        <p:nvSpPr>
          <p:cNvPr id="23" name="Index row 23"/>
          <p:cNvSpPr/>
          <p:nvPr/>
        </p:nvSpPr>
        <p:spPr>
          <a:xfrm>
            <a:off x="457200" y="4325112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4" name="Badge 24"/>
          <p:cNvSpPr/>
          <p:nvPr/>
        </p:nvSpPr>
        <p:spPr>
          <a:xfrm>
            <a:off x="566928" y="4398264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Index item 25"/>
          <p:cNvSpPr txBox="1"/>
          <p:nvPr/>
        </p:nvSpPr>
        <p:spPr>
          <a:xfrm>
            <a:off x="1188720" y="4325112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Technologies and Requirements</a:t>
            </a:r>
          </a:p>
        </p:txBody>
      </p:sp>
      <p:sp>
        <p:nvSpPr>
          <p:cNvPr id="26" name="Index row 26"/>
          <p:cNvSpPr/>
          <p:nvPr/>
        </p:nvSpPr>
        <p:spPr>
          <a:xfrm>
            <a:off x="457200" y="5029200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7" name="Badge 27"/>
          <p:cNvSpPr/>
          <p:nvPr/>
        </p:nvSpPr>
        <p:spPr>
          <a:xfrm>
            <a:off x="566928" y="5102352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Index item 28"/>
          <p:cNvSpPr txBox="1"/>
          <p:nvPr/>
        </p:nvSpPr>
        <p:spPr>
          <a:xfrm>
            <a:off x="1188720" y="5029200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Use Case Diagrams</a:t>
            </a:r>
          </a:p>
        </p:txBody>
      </p:sp>
      <p:sp>
        <p:nvSpPr>
          <p:cNvPr id="29" name="Index row 29"/>
          <p:cNvSpPr/>
          <p:nvPr/>
        </p:nvSpPr>
        <p:spPr>
          <a:xfrm>
            <a:off x="457200" y="5733288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30" name="Badge 30"/>
          <p:cNvSpPr/>
          <p:nvPr/>
        </p:nvSpPr>
        <p:spPr>
          <a:xfrm>
            <a:off x="566928" y="580644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Index item 31"/>
          <p:cNvSpPr txBox="1"/>
          <p:nvPr/>
        </p:nvSpPr>
        <p:spPr>
          <a:xfrm>
            <a:off x="1188720" y="5733288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Database Design</a:t>
            </a:r>
          </a:p>
        </p:txBody>
      </p:sp>
      <p:sp>
        <p:nvSpPr>
          <p:cNvPr id="32" name="Index row 32"/>
          <p:cNvSpPr/>
          <p:nvPr/>
        </p:nvSpPr>
        <p:spPr>
          <a:xfrm>
            <a:off x="6217920" y="1508760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33" name="Badge 33"/>
          <p:cNvSpPr/>
          <p:nvPr/>
        </p:nvSpPr>
        <p:spPr>
          <a:xfrm>
            <a:off x="6327648" y="1581912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Index item 34"/>
          <p:cNvSpPr txBox="1"/>
          <p:nvPr/>
        </p:nvSpPr>
        <p:spPr>
          <a:xfrm>
            <a:off x="6949440" y="1508760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Data Flow Diagrams</a:t>
            </a:r>
          </a:p>
        </p:txBody>
      </p:sp>
      <p:sp>
        <p:nvSpPr>
          <p:cNvPr id="35" name="Index row 35"/>
          <p:cNvSpPr/>
          <p:nvPr/>
        </p:nvSpPr>
        <p:spPr>
          <a:xfrm>
            <a:off x="6217920" y="2212848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36" name="Badge 36"/>
          <p:cNvSpPr/>
          <p:nvPr/>
        </p:nvSpPr>
        <p:spPr>
          <a:xfrm>
            <a:off x="6327648" y="228600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7" name="Index item 37"/>
          <p:cNvSpPr txBox="1"/>
          <p:nvPr/>
        </p:nvSpPr>
        <p:spPr>
          <a:xfrm>
            <a:off x="6949440" y="2212848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Chatbot Implementation</a:t>
            </a:r>
          </a:p>
        </p:txBody>
      </p:sp>
      <p:sp>
        <p:nvSpPr>
          <p:cNvPr id="38" name="Index row 38"/>
          <p:cNvSpPr/>
          <p:nvPr/>
        </p:nvSpPr>
        <p:spPr>
          <a:xfrm>
            <a:off x="6217920" y="2916936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39" name="Badge 39"/>
          <p:cNvSpPr/>
          <p:nvPr/>
        </p:nvSpPr>
        <p:spPr>
          <a:xfrm>
            <a:off x="6327648" y="299008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0" name="Index item 40"/>
          <p:cNvSpPr txBox="1"/>
          <p:nvPr/>
        </p:nvSpPr>
        <p:spPr>
          <a:xfrm>
            <a:off x="6949440" y="2916936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Output Screens</a:t>
            </a:r>
          </a:p>
        </p:txBody>
      </p:sp>
      <p:sp>
        <p:nvSpPr>
          <p:cNvPr id="41" name="Index row 41"/>
          <p:cNvSpPr/>
          <p:nvPr/>
        </p:nvSpPr>
        <p:spPr>
          <a:xfrm>
            <a:off x="6217920" y="3621024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42" name="Badge 42"/>
          <p:cNvSpPr/>
          <p:nvPr/>
        </p:nvSpPr>
        <p:spPr>
          <a:xfrm>
            <a:off x="6327648" y="3694176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3" name="Index item 43"/>
          <p:cNvSpPr txBox="1"/>
          <p:nvPr/>
        </p:nvSpPr>
        <p:spPr>
          <a:xfrm>
            <a:off x="6949440" y="3621024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Testing</a:t>
            </a:r>
          </a:p>
        </p:txBody>
      </p:sp>
      <p:sp>
        <p:nvSpPr>
          <p:cNvPr id="44" name="Index row 44"/>
          <p:cNvSpPr/>
          <p:nvPr/>
        </p:nvSpPr>
        <p:spPr>
          <a:xfrm>
            <a:off x="6217920" y="4325112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45" name="Badge 45"/>
          <p:cNvSpPr/>
          <p:nvPr/>
        </p:nvSpPr>
        <p:spPr>
          <a:xfrm>
            <a:off x="6327648" y="4398264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6" name="Index item 46"/>
          <p:cNvSpPr txBox="1"/>
          <p:nvPr/>
        </p:nvSpPr>
        <p:spPr>
          <a:xfrm>
            <a:off x="6949440" y="4325112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Conclusion and Future Scope</a:t>
            </a:r>
          </a:p>
        </p:txBody>
      </p:sp>
      <p:sp>
        <p:nvSpPr>
          <p:cNvPr id="47" name="Index row 47"/>
          <p:cNvSpPr/>
          <p:nvPr/>
        </p:nvSpPr>
        <p:spPr>
          <a:xfrm>
            <a:off x="6217920" y="5029200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48" name="Badge 48"/>
          <p:cNvSpPr/>
          <p:nvPr/>
        </p:nvSpPr>
        <p:spPr>
          <a:xfrm>
            <a:off x="6327648" y="5102352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9" name="Index item 49"/>
          <p:cNvSpPr txBox="1"/>
          <p:nvPr/>
        </p:nvSpPr>
        <p:spPr>
          <a:xfrm>
            <a:off x="6949440" y="5029200"/>
            <a:ext cx="4572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262626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D89A-FE85-0C62-96F9-AF7E2A8B4F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2F48E-1343-6407-C0C7-13A43F04A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Heirloom: digital legacy, preservation &amp; access system</a:t>
            </a:r>
          </a:p>
        </p:txBody>
      </p:sp>
    </p:spTree>
    <p:extLst>
      <p:ext uri="{BB962C8B-B14F-4D97-AF65-F5344CB8AC3E}">
        <p14:creationId xmlns:p14="http://schemas.microsoft.com/office/powerpoint/2010/main" val="341994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Introduction and Motivation</a:t>
            </a:r>
          </a:p>
        </p:txBody>
      </p:sp>
      <p:sp>
        <p:nvSpPr>
          <p:cNvPr id="11" name="Lead 11"/>
          <p:cNvSpPr txBox="1"/>
          <p:nvPr/>
        </p:nvSpPr>
        <p:spPr>
          <a:xfrm>
            <a:off x="457200" y="150876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</a:rPr>
              <a:t>Heirloom is a web-based academic hub that brings an AI chatbot, a course-wise resource library and a performance dashboard into one platform for students and faculty.</a:t>
            </a:r>
          </a:p>
        </p:txBody>
      </p:sp>
      <p:sp>
        <p:nvSpPr>
          <p:cNvPr id="12" name="Stat 12"/>
          <p:cNvSpPr/>
          <p:nvPr/>
        </p:nvSpPr>
        <p:spPr>
          <a:xfrm>
            <a:off x="457200" y="32461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dirty="0">
                <a:solidFill>
                  <a:srgbClr val="C00000"/>
                </a:solidFill>
              </a:rPr>
              <a:t>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core modules</a:t>
            </a:r>
          </a:p>
        </p:txBody>
      </p:sp>
      <p:sp>
        <p:nvSpPr>
          <p:cNvPr id="13" name="Stat 13"/>
          <p:cNvSpPr/>
          <p:nvPr/>
        </p:nvSpPr>
        <p:spPr>
          <a:xfrm>
            <a:off x="2331720" y="32461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dirty="0">
                <a:solidFill>
                  <a:srgbClr val="C00000"/>
                </a:solidFill>
              </a:rPr>
              <a:t>2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user roles</a:t>
            </a:r>
          </a:p>
        </p:txBody>
      </p:sp>
      <p:sp>
        <p:nvSpPr>
          <p:cNvPr id="14" name="Stat 14"/>
          <p:cNvSpPr/>
          <p:nvPr/>
        </p:nvSpPr>
        <p:spPr>
          <a:xfrm>
            <a:off x="4206240" y="324612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dirty="0">
                <a:solidFill>
                  <a:srgbClr val="C00000"/>
                </a:solidFill>
              </a:rPr>
              <a:t>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unified hub</a:t>
            </a:r>
          </a:p>
        </p:txBody>
      </p:sp>
      <p:sp>
        <p:nvSpPr>
          <p:cNvPr id="15" name="Stat caption 15"/>
          <p:cNvSpPr txBox="1"/>
          <p:nvPr/>
        </p:nvSpPr>
        <p:spPr>
          <a:xfrm>
            <a:off x="457200" y="58064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1" dirty="0">
                <a:solidFill>
                  <a:srgbClr val="595959"/>
                </a:solidFill>
              </a:rPr>
              <a:t>Chatbot, resources and dashboard; students and admins; one login.</a:t>
            </a:r>
          </a:p>
        </p:txBody>
      </p:sp>
      <p:sp>
        <p:nvSpPr>
          <p:cNvPr id="16" name="Card 16"/>
          <p:cNvSpPr/>
          <p:nvPr/>
        </p:nvSpPr>
        <p:spPr>
          <a:xfrm>
            <a:off x="6217920" y="1508760"/>
            <a:ext cx="5513832" cy="10972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7" name="Badge 17"/>
          <p:cNvSpPr/>
          <p:nvPr/>
        </p:nvSpPr>
        <p:spPr>
          <a:xfrm>
            <a:off x="6419088" y="170992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Card text 18"/>
          <p:cNvSpPr txBox="1"/>
          <p:nvPr/>
        </p:nvSpPr>
        <p:spPr>
          <a:xfrm>
            <a:off x="6995160" y="1691640"/>
            <a:ext cx="455371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Fragmented resources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Notes, results and announcements sit on separate portals.</a:t>
            </a:r>
          </a:p>
        </p:txBody>
      </p:sp>
      <p:sp>
        <p:nvSpPr>
          <p:cNvPr id="19" name="Card 19"/>
          <p:cNvSpPr/>
          <p:nvPr/>
        </p:nvSpPr>
        <p:spPr>
          <a:xfrm>
            <a:off x="6217920" y="2743200"/>
            <a:ext cx="5513832" cy="10972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0" name="Badge 20"/>
          <p:cNvSpPr/>
          <p:nvPr/>
        </p:nvSpPr>
        <p:spPr>
          <a:xfrm>
            <a:off x="6419088" y="294436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Card text 21"/>
          <p:cNvSpPr txBox="1"/>
          <p:nvPr/>
        </p:nvSpPr>
        <p:spPr>
          <a:xfrm>
            <a:off x="6995160" y="2926080"/>
            <a:ext cx="455371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Delayed doubt resolution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Students wait for office hours to get basic answers.</a:t>
            </a:r>
          </a:p>
        </p:txBody>
      </p:sp>
      <p:sp>
        <p:nvSpPr>
          <p:cNvPr id="22" name="Card 22"/>
          <p:cNvSpPr/>
          <p:nvPr/>
        </p:nvSpPr>
        <p:spPr>
          <a:xfrm>
            <a:off x="6217920" y="3977640"/>
            <a:ext cx="5513832" cy="10972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3" name="Badge 23"/>
          <p:cNvSpPr/>
          <p:nvPr/>
        </p:nvSpPr>
        <p:spPr>
          <a:xfrm>
            <a:off x="6419088" y="417880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Card text 24"/>
          <p:cNvSpPr txBox="1"/>
          <p:nvPr/>
        </p:nvSpPr>
        <p:spPr>
          <a:xfrm>
            <a:off x="6995160" y="4160520"/>
            <a:ext cx="455371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No personalized insight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Raw marks and attendance give no early warning.</a:t>
            </a:r>
          </a:p>
        </p:txBody>
      </p:sp>
      <p:sp>
        <p:nvSpPr>
          <p:cNvPr id="25" name="Card 25"/>
          <p:cNvSpPr/>
          <p:nvPr/>
        </p:nvSpPr>
        <p:spPr>
          <a:xfrm>
            <a:off x="6217920" y="5212080"/>
            <a:ext cx="5513832" cy="10972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6" name="Badge 26"/>
          <p:cNvSpPr/>
          <p:nvPr/>
        </p:nvSpPr>
        <p:spPr>
          <a:xfrm>
            <a:off x="6419088" y="5413248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Card text 27"/>
          <p:cNvSpPr txBox="1"/>
          <p:nvPr/>
        </p:nvSpPr>
        <p:spPr>
          <a:xfrm>
            <a:off x="6995160" y="5394960"/>
            <a:ext cx="455371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Repetitive faculty workload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The same queries and reports are handled by hand.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11" name="Objective card 11"/>
          <p:cNvSpPr/>
          <p:nvPr/>
        </p:nvSpPr>
        <p:spPr>
          <a:xfrm>
            <a:off x="457200" y="150876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Badge 12"/>
          <p:cNvSpPr/>
          <p:nvPr/>
        </p:nvSpPr>
        <p:spPr>
          <a:xfrm>
            <a:off x="685800" y="173736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Objective title 13"/>
          <p:cNvSpPr txBox="1"/>
          <p:nvPr/>
        </p:nvSpPr>
        <p:spPr>
          <a:xfrm>
            <a:off x="1280160" y="1737360"/>
            <a:ext cx="2569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Instant Academic Help</a:t>
            </a:r>
          </a:p>
        </p:txBody>
      </p:sp>
      <p:sp>
        <p:nvSpPr>
          <p:cNvPr id="14" name="Objective text 14"/>
          <p:cNvSpPr txBox="1"/>
          <p:nvPr/>
        </p:nvSpPr>
        <p:spPr>
          <a:xfrm>
            <a:off x="685800" y="2423160"/>
            <a:ext cx="3118104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Answer student queries through a chatbot backed by a curated knowledge base.</a:t>
            </a:r>
          </a:p>
        </p:txBody>
      </p:sp>
      <p:sp>
        <p:nvSpPr>
          <p:cNvPr id="15" name="Objective card 15"/>
          <p:cNvSpPr/>
          <p:nvPr/>
        </p:nvSpPr>
        <p:spPr>
          <a:xfrm>
            <a:off x="4306824" y="150876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6" name="Badge 16"/>
          <p:cNvSpPr/>
          <p:nvPr/>
        </p:nvSpPr>
        <p:spPr>
          <a:xfrm>
            <a:off x="4535424" y="173736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bjective title 17"/>
          <p:cNvSpPr txBox="1"/>
          <p:nvPr/>
        </p:nvSpPr>
        <p:spPr>
          <a:xfrm>
            <a:off x="5129784" y="1737360"/>
            <a:ext cx="2569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Centralized Resources</a:t>
            </a:r>
          </a:p>
        </p:txBody>
      </p:sp>
      <p:sp>
        <p:nvSpPr>
          <p:cNvPr id="18" name="Objective text 18"/>
          <p:cNvSpPr txBox="1"/>
          <p:nvPr/>
        </p:nvSpPr>
        <p:spPr>
          <a:xfrm>
            <a:off x="4535424" y="2423160"/>
            <a:ext cx="3118104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One organized repository of notes and assignments for every course.</a:t>
            </a:r>
          </a:p>
        </p:txBody>
      </p:sp>
      <p:sp>
        <p:nvSpPr>
          <p:cNvPr id="19" name="Objective card 19"/>
          <p:cNvSpPr/>
          <p:nvPr/>
        </p:nvSpPr>
        <p:spPr>
          <a:xfrm>
            <a:off x="8156448" y="150876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0" name="Badge 20"/>
          <p:cNvSpPr/>
          <p:nvPr/>
        </p:nvSpPr>
        <p:spPr>
          <a:xfrm>
            <a:off x="8385048" y="173736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Objective title 21"/>
          <p:cNvSpPr txBox="1"/>
          <p:nvPr/>
        </p:nvSpPr>
        <p:spPr>
          <a:xfrm>
            <a:off x="8979408" y="1737360"/>
            <a:ext cx="2569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Track Performance</a:t>
            </a:r>
          </a:p>
        </p:txBody>
      </p:sp>
      <p:sp>
        <p:nvSpPr>
          <p:cNvPr id="22" name="Objective text 22"/>
          <p:cNvSpPr txBox="1"/>
          <p:nvPr/>
        </p:nvSpPr>
        <p:spPr>
          <a:xfrm>
            <a:off x="8385048" y="2423160"/>
            <a:ext cx="3118104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Visualize marks and attendance so students see where to improve.</a:t>
            </a:r>
          </a:p>
        </p:txBody>
      </p:sp>
      <p:sp>
        <p:nvSpPr>
          <p:cNvPr id="23" name="Objective card 23"/>
          <p:cNvSpPr/>
          <p:nvPr/>
        </p:nvSpPr>
        <p:spPr>
          <a:xfrm>
            <a:off x="457200" y="406908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4" name="Badge 24"/>
          <p:cNvSpPr/>
          <p:nvPr/>
        </p:nvSpPr>
        <p:spPr>
          <a:xfrm>
            <a:off x="685800" y="429768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Objective title 25"/>
          <p:cNvSpPr txBox="1"/>
          <p:nvPr/>
        </p:nvSpPr>
        <p:spPr>
          <a:xfrm>
            <a:off x="1280160" y="4297680"/>
            <a:ext cx="2569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Faculty Oversight</a:t>
            </a:r>
          </a:p>
        </p:txBody>
      </p:sp>
      <p:sp>
        <p:nvSpPr>
          <p:cNvPr id="26" name="Objective text 26"/>
          <p:cNvSpPr txBox="1"/>
          <p:nvPr/>
        </p:nvSpPr>
        <p:spPr>
          <a:xfrm>
            <a:off x="685800" y="4983480"/>
            <a:ext cx="3118104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Let admins manage courses, resources and the chatbot's knowledge.</a:t>
            </a:r>
          </a:p>
        </p:txBody>
      </p:sp>
      <p:sp>
        <p:nvSpPr>
          <p:cNvPr id="27" name="Objective card 27"/>
          <p:cNvSpPr/>
          <p:nvPr/>
        </p:nvSpPr>
        <p:spPr>
          <a:xfrm>
            <a:off x="4306824" y="406908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8" name="Badge 28"/>
          <p:cNvSpPr/>
          <p:nvPr/>
        </p:nvSpPr>
        <p:spPr>
          <a:xfrm>
            <a:off x="4535424" y="429768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Objective title 29"/>
          <p:cNvSpPr txBox="1"/>
          <p:nvPr/>
        </p:nvSpPr>
        <p:spPr>
          <a:xfrm>
            <a:off x="5129784" y="4297680"/>
            <a:ext cx="2569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Early Support</a:t>
            </a:r>
          </a:p>
        </p:txBody>
      </p:sp>
      <p:sp>
        <p:nvSpPr>
          <p:cNvPr id="30" name="Objective text 30"/>
          <p:cNvSpPr txBox="1"/>
          <p:nvPr/>
        </p:nvSpPr>
        <p:spPr>
          <a:xfrm>
            <a:off x="4535424" y="4983480"/>
            <a:ext cx="3118104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Flag students whose attendance or marks need attention.</a:t>
            </a:r>
          </a:p>
        </p:txBody>
      </p:sp>
      <p:sp>
        <p:nvSpPr>
          <p:cNvPr id="31" name="Objective card 31"/>
          <p:cNvSpPr/>
          <p:nvPr/>
        </p:nvSpPr>
        <p:spPr>
          <a:xfrm>
            <a:off x="8156448" y="406908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32" name="Badge 32"/>
          <p:cNvSpPr/>
          <p:nvPr/>
        </p:nvSpPr>
        <p:spPr>
          <a:xfrm>
            <a:off x="8385048" y="4297680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Objective title 33"/>
          <p:cNvSpPr txBox="1"/>
          <p:nvPr/>
        </p:nvSpPr>
        <p:spPr>
          <a:xfrm>
            <a:off x="8979408" y="4297680"/>
            <a:ext cx="2569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Secure and Scalable</a:t>
            </a:r>
          </a:p>
        </p:txBody>
      </p:sp>
      <p:sp>
        <p:nvSpPr>
          <p:cNvPr id="34" name="Objective text 34"/>
          <p:cNvSpPr txBox="1"/>
          <p:nvPr/>
        </p:nvSpPr>
        <p:spPr>
          <a:xfrm>
            <a:off x="8385048" y="4983480"/>
            <a:ext cx="3118104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Hashed passwords, role-based access and room to add courses.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Existing System and Limitations</a:t>
            </a:r>
          </a:p>
        </p:txBody>
      </p:sp>
      <p:sp>
        <p:nvSpPr>
          <p:cNvPr id="11" name="Panel existing 11"/>
          <p:cNvSpPr/>
          <p:nvPr/>
        </p:nvSpPr>
        <p:spPr>
          <a:xfrm>
            <a:off x="457200" y="150876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Panel title 12"/>
          <p:cNvSpPr txBox="1"/>
          <p:nvPr/>
        </p:nvSpPr>
        <p:spPr>
          <a:xfrm>
            <a:off x="731520" y="1691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Existing systems</a:t>
            </a:r>
          </a:p>
        </p:txBody>
      </p:sp>
      <p:sp>
        <p:nvSpPr>
          <p:cNvPr id="13" name="Existing list 13"/>
          <p:cNvSpPr txBox="1"/>
          <p:nvPr/>
        </p:nvSpPr>
        <p:spPr>
          <a:xfrm>
            <a:off x="731520" y="228600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Google Classroom: </a:t>
            </a:r>
            <a:r>
              <a:rPr lang="en-IN" sz="1600" b="0" i="0" dirty="0">
                <a:solidFill>
                  <a:srgbClr val="262626"/>
                </a:solidFill>
              </a:rPr>
              <a:t>assignments and class communication, no AI doubt help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Moodle: </a:t>
            </a:r>
            <a:r>
              <a:rPr lang="en-IN" sz="1600" b="0" i="0" dirty="0">
                <a:solidFill>
                  <a:srgbClr val="262626"/>
                </a:solidFill>
              </a:rPr>
              <a:t>course and grade management, heavy to configure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Khan Academy, Coursera: </a:t>
            </a:r>
            <a:r>
              <a:rPr lang="en-IN" sz="1600" b="0" i="0" dirty="0">
                <a:solidFill>
                  <a:srgbClr val="262626"/>
                </a:solidFill>
              </a:rPr>
              <a:t>self-paced courses, not institution-specific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ChatGPT: </a:t>
            </a:r>
            <a:r>
              <a:rPr lang="en-IN" sz="1600" b="0" i="0" dirty="0">
                <a:solidFill>
                  <a:srgbClr val="262626"/>
                </a:solidFill>
              </a:rPr>
              <a:t>general answers, unaware of the syllabus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University ERP portals: </a:t>
            </a:r>
            <a:r>
              <a:rPr lang="en-IN" sz="1600" b="0" i="0" dirty="0">
                <a:solidFill>
                  <a:srgbClr val="262626"/>
                </a:solidFill>
              </a:rPr>
              <a:t>static marks and attendance, no chat</a:t>
            </a:r>
          </a:p>
        </p:txBody>
      </p:sp>
      <p:sp>
        <p:nvSpPr>
          <p:cNvPr id="14" name="Panel limits 14"/>
          <p:cNvSpPr/>
          <p:nvPr/>
        </p:nvSpPr>
        <p:spPr>
          <a:xfrm>
            <a:off x="6245352" y="150876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5" name="Panel title 15"/>
          <p:cNvSpPr txBox="1"/>
          <p:nvPr/>
        </p:nvSpPr>
        <p:spPr>
          <a:xfrm>
            <a:off x="6519672" y="1691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Limitations</a:t>
            </a:r>
          </a:p>
        </p:txBody>
      </p:sp>
      <p:sp>
        <p:nvSpPr>
          <p:cNvPr id="16" name="Limits list 16"/>
          <p:cNvSpPr txBox="1"/>
          <p:nvPr/>
        </p:nvSpPr>
        <p:spPr>
          <a:xfrm>
            <a:off x="6519672" y="228600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Fragmented tools: </a:t>
            </a:r>
            <a:r>
              <a:rPr lang="en-IN" sz="1600" b="0" i="0" dirty="0">
                <a:solidFill>
                  <a:srgbClr val="262626"/>
                </a:solidFill>
              </a:rPr>
              <a:t>separate portals for notes, results and doubts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Limited personalization: </a:t>
            </a:r>
            <a:r>
              <a:rPr lang="en-IN" sz="1600" b="0" i="0" dirty="0">
                <a:solidFill>
                  <a:srgbClr val="262626"/>
                </a:solidFill>
              </a:rPr>
              <a:t>everyone sees the same static information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No institution-aware answers: </a:t>
            </a:r>
            <a:r>
              <a:rPr lang="en-IN" sz="1600" b="0" i="0" dirty="0">
                <a:solidFill>
                  <a:srgbClr val="262626"/>
                </a:solidFill>
              </a:rPr>
              <a:t>general assistants do not know the course content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No early warning: </a:t>
            </a:r>
            <a:r>
              <a:rPr lang="en-IN" sz="1600" b="0" i="0" dirty="0">
                <a:solidFill>
                  <a:srgbClr val="262626"/>
                </a:solidFill>
              </a:rPr>
              <a:t>attendance and marks shown as raw numbers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Heavy faculty workload: </a:t>
            </a:r>
            <a:r>
              <a:rPr lang="en-IN" sz="1600" b="0" i="0" dirty="0">
                <a:solidFill>
                  <a:srgbClr val="262626"/>
                </a:solidFill>
              </a:rPr>
              <a:t>repetitive queries and manual reports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Proposed System: Key Modules</a:t>
            </a:r>
          </a:p>
        </p:txBody>
      </p:sp>
      <p:sp>
        <p:nvSpPr>
          <p:cNvPr id="11" name="Module card 11"/>
          <p:cNvSpPr/>
          <p:nvPr/>
        </p:nvSpPr>
        <p:spPr>
          <a:xfrm>
            <a:off x="457200" y="15087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Badge 12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Module title 13"/>
          <p:cNvSpPr txBox="1"/>
          <p:nvPr/>
        </p:nvSpPr>
        <p:spPr>
          <a:xfrm>
            <a:off x="1371600" y="17830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AI Chatbot</a:t>
            </a:r>
          </a:p>
        </p:txBody>
      </p:sp>
      <p:sp>
        <p:nvSpPr>
          <p:cNvPr id="14" name="Module text 14"/>
          <p:cNvSpPr txBox="1"/>
          <p:nvPr/>
        </p:nvSpPr>
        <p:spPr>
          <a:xfrm>
            <a:off x="731520" y="24688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Matches a student's question against a curated knowledge base using TF-IDF and cosine similarity, and logs every exchange.</a:t>
            </a:r>
          </a:p>
        </p:txBody>
      </p:sp>
      <p:sp>
        <p:nvSpPr>
          <p:cNvPr id="15" name="Module card 15"/>
          <p:cNvSpPr/>
          <p:nvPr/>
        </p:nvSpPr>
        <p:spPr>
          <a:xfrm>
            <a:off x="6245352" y="15087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6" name="Badge 16"/>
          <p:cNvSpPr/>
          <p:nvPr/>
        </p:nvSpPr>
        <p:spPr>
          <a:xfrm>
            <a:off x="6519672" y="17830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Module title 17"/>
          <p:cNvSpPr txBox="1"/>
          <p:nvPr/>
        </p:nvSpPr>
        <p:spPr>
          <a:xfrm>
            <a:off x="7159752" y="17830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Resource Library</a:t>
            </a:r>
          </a:p>
        </p:txBody>
      </p:sp>
      <p:sp>
        <p:nvSpPr>
          <p:cNvPr id="18" name="Module text 18"/>
          <p:cNvSpPr txBox="1"/>
          <p:nvPr/>
        </p:nvSpPr>
        <p:spPr>
          <a:xfrm>
            <a:off x="6519672" y="24688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Course-wise notes, assignments and reference material that students browse and download, and admins upload.</a:t>
            </a:r>
          </a:p>
        </p:txBody>
      </p:sp>
      <p:sp>
        <p:nvSpPr>
          <p:cNvPr id="19" name="Module card 19"/>
          <p:cNvSpPr/>
          <p:nvPr/>
        </p:nvSpPr>
        <p:spPr>
          <a:xfrm>
            <a:off x="457200" y="40233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0" name="Badge 20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Module title 21"/>
          <p:cNvSpPr txBox="1"/>
          <p:nvPr/>
        </p:nvSpPr>
        <p:spPr>
          <a:xfrm>
            <a:off x="1371600" y="42976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Performance Dashboard</a:t>
            </a:r>
          </a:p>
        </p:txBody>
      </p:sp>
      <p:sp>
        <p:nvSpPr>
          <p:cNvPr id="22" name="Module text 22"/>
          <p:cNvSpPr txBox="1"/>
          <p:nvPr/>
        </p:nvSpPr>
        <p:spPr>
          <a:xfrm>
            <a:off x="731520" y="49834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Shows marks, attendance and the average mark per student, and flags courses below 75 percent attendance.</a:t>
            </a:r>
          </a:p>
        </p:txBody>
      </p:sp>
      <p:sp>
        <p:nvSpPr>
          <p:cNvPr id="23" name="Module card 23"/>
          <p:cNvSpPr/>
          <p:nvPr/>
        </p:nvSpPr>
        <p:spPr>
          <a:xfrm>
            <a:off x="6245352" y="40233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24" name="Badge 24"/>
          <p:cNvSpPr/>
          <p:nvPr/>
        </p:nvSpPr>
        <p:spPr>
          <a:xfrm>
            <a:off x="6519672" y="42976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Module title 25"/>
          <p:cNvSpPr txBox="1"/>
          <p:nvPr/>
        </p:nvSpPr>
        <p:spPr>
          <a:xfrm>
            <a:off x="7159752" y="42976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Admin Management</a:t>
            </a:r>
          </a:p>
        </p:txBody>
      </p:sp>
      <p:sp>
        <p:nvSpPr>
          <p:cNvPr id="26" name="Module text 26"/>
          <p:cNvSpPr txBox="1"/>
          <p:nvPr/>
        </p:nvSpPr>
        <p:spPr>
          <a:xfrm>
            <a:off x="6519672" y="49834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</a:rPr>
              <a:t>Admins manage students, courses, resources, knowledge-base entries and performance records through Django admin.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Technologies and Requirements</a:t>
            </a:r>
          </a:p>
        </p:txBody>
      </p:sp>
      <p:sp>
        <p:nvSpPr>
          <p:cNvPr id="11" name="Tech chip 11"/>
          <p:cNvSpPr/>
          <p:nvPr/>
        </p:nvSpPr>
        <p:spPr>
          <a:xfrm>
            <a:off x="457200" y="150876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Python 3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Core language</a:t>
            </a:r>
          </a:p>
        </p:txBody>
      </p:sp>
      <p:sp>
        <p:nvSpPr>
          <p:cNvPr id="12" name="Tech chip 12"/>
          <p:cNvSpPr/>
          <p:nvPr/>
        </p:nvSpPr>
        <p:spPr>
          <a:xfrm>
            <a:off x="3566160" y="150876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Django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Backend, ORM, authentication</a:t>
            </a:r>
          </a:p>
        </p:txBody>
      </p:sp>
      <p:sp>
        <p:nvSpPr>
          <p:cNvPr id="13" name="Tech chip 13"/>
          <p:cNvSpPr/>
          <p:nvPr/>
        </p:nvSpPr>
        <p:spPr>
          <a:xfrm>
            <a:off x="457200" y="2715768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scikit-learn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TF-IDF chatbot matching</a:t>
            </a:r>
          </a:p>
        </p:txBody>
      </p:sp>
      <p:sp>
        <p:nvSpPr>
          <p:cNvPr id="14" name="Tech chip 14"/>
          <p:cNvSpPr/>
          <p:nvPr/>
        </p:nvSpPr>
        <p:spPr>
          <a:xfrm>
            <a:off x="3566160" y="2715768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Bootstrap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Responsive interface</a:t>
            </a:r>
          </a:p>
        </p:txBody>
      </p:sp>
      <p:sp>
        <p:nvSpPr>
          <p:cNvPr id="15" name="Tech chip 15"/>
          <p:cNvSpPr/>
          <p:nvPr/>
        </p:nvSpPr>
        <p:spPr>
          <a:xfrm>
            <a:off x="457200" y="3922776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HTML and CSS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Structure and styling</a:t>
            </a:r>
          </a:p>
        </p:txBody>
      </p:sp>
      <p:sp>
        <p:nvSpPr>
          <p:cNvPr id="16" name="Tech chip 16"/>
          <p:cNvSpPr/>
          <p:nvPr/>
        </p:nvSpPr>
        <p:spPr>
          <a:xfrm>
            <a:off x="3566160" y="3922776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JavaScript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Chat widget and charts</a:t>
            </a:r>
          </a:p>
        </p:txBody>
      </p:sp>
      <p:sp>
        <p:nvSpPr>
          <p:cNvPr id="17" name="Tech chip 17"/>
          <p:cNvSpPr/>
          <p:nvPr/>
        </p:nvSpPr>
        <p:spPr>
          <a:xfrm>
            <a:off x="457200" y="5129784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SQLite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Development database</a:t>
            </a:r>
          </a:p>
        </p:txBody>
      </p:sp>
      <p:sp>
        <p:nvSpPr>
          <p:cNvPr id="18" name="Tech chip 18"/>
          <p:cNvSpPr/>
          <p:nvPr/>
        </p:nvSpPr>
        <p:spPr>
          <a:xfrm>
            <a:off x="3566160" y="5129784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82880" tIns="73152" rIns="13716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VS Code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Development environment</a:t>
            </a:r>
          </a:p>
        </p:txBody>
      </p:sp>
      <p:graphicFrame>
        <p:nvGraphicFramePr>
          <p:cNvPr id="19" name="Requirements table 19"/>
          <p:cNvGraphicFramePr>
            <a:graphicFrameLocks noGrp="1"/>
          </p:cNvGraphicFramePr>
          <p:nvPr/>
        </p:nvGraphicFramePr>
        <p:xfrm>
          <a:off x="6858000" y="1508760"/>
          <a:ext cx="4873752" cy="3703320"/>
        </p:xfrm>
        <a:graphic>
          <a:graphicData uri="http://schemas.openxmlformats.org/drawingml/2006/table">
            <a:tbl>
              <a:tblPr firstRow="1" bandRow="1"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262626"/>
                          </a:solidFill>
                        </a:rPr>
                        <a:t>Developer software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Python 3.10+, Django, scikit-learn, VS Code, browser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262626"/>
                          </a:solidFill>
                        </a:rPr>
                        <a:t>Developer hardware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PC or server, 8 GB RAM or more, 5 GB disk or more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262626"/>
                          </a:solidFill>
                        </a:rPr>
                        <a:t>Client software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Modern browser, internet connection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262626"/>
                          </a:solidFill>
                        </a:rPr>
                        <a:t>Client hardware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PC or mobile phone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Use Case Diagrams</a:t>
            </a:r>
          </a:p>
        </p:txBody>
      </p:sp>
      <p:sp>
        <p:nvSpPr>
          <p:cNvPr id="11" name="Diagram panel 11"/>
          <p:cNvSpPr/>
          <p:nvPr/>
        </p:nvSpPr>
        <p:spPr>
          <a:xfrm>
            <a:off x="457200" y="150876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Diagram label 12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Admin</a:t>
            </a:r>
          </a:p>
        </p:txBody>
      </p:sp>
      <p:pic>
        <p:nvPicPr>
          <p:cNvPr id="13" name="Picture 13" descr="Use case diagram for 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89" y="2011680"/>
            <a:ext cx="2748821" cy="4114800"/>
          </a:xfrm>
          <a:prstGeom prst="rect">
            <a:avLst/>
          </a:prstGeom>
        </p:spPr>
      </p:pic>
      <p:sp>
        <p:nvSpPr>
          <p:cNvPr id="14" name="Diagram panel 14"/>
          <p:cNvSpPr/>
          <p:nvPr/>
        </p:nvSpPr>
        <p:spPr>
          <a:xfrm>
            <a:off x="4343400" y="150876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5" name="Diagram label 15"/>
          <p:cNvSpPr txBox="1"/>
          <p:nvPr/>
        </p:nvSpPr>
        <p:spPr>
          <a:xfrm>
            <a:off x="434340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Student</a:t>
            </a:r>
          </a:p>
        </p:txBody>
      </p:sp>
      <p:pic>
        <p:nvPicPr>
          <p:cNvPr id="16" name="Picture 16" descr="Use case diagram for Stud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21" y="2011680"/>
            <a:ext cx="2578957" cy="4114800"/>
          </a:xfrm>
          <a:prstGeom prst="rect">
            <a:avLst/>
          </a:prstGeom>
        </p:spPr>
      </p:pic>
      <p:sp>
        <p:nvSpPr>
          <p:cNvPr id="17" name="Roles text 17"/>
          <p:cNvSpPr txBox="1"/>
          <p:nvPr/>
        </p:nvSpPr>
        <p:spPr>
          <a:xfrm>
            <a:off x="8321040" y="1508760"/>
            <a:ext cx="3410712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Admin</a:t>
            </a:r>
          </a:p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Manages accounts, courses, resources, the chatbot knowledge base, attendance and announcements, and views class-wide analytics.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Student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Registers, asks the chatbot, accesses resources, tracks marks and attendance, gets recommendations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Database Design</a:t>
            </a:r>
          </a:p>
        </p:txBody>
      </p:sp>
      <p:sp>
        <p:nvSpPr>
          <p:cNvPr id="11" name="Schema panel 11"/>
          <p:cNvSpPr/>
          <p:nvPr/>
        </p:nvSpPr>
        <p:spPr>
          <a:xfrm>
            <a:off x="457200" y="150876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pic>
        <p:nvPicPr>
          <p:cNvPr id="12" name="Picture 12" descr="Database schema of Heirlo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40" y="1645920"/>
            <a:ext cx="4428520" cy="4526280"/>
          </a:xfrm>
          <a:prstGeom prst="rect">
            <a:avLst/>
          </a:prstGeom>
        </p:spPr>
      </p:pic>
      <p:sp>
        <p:nvSpPr>
          <p:cNvPr id="13" name="ER panel 13"/>
          <p:cNvSpPr/>
          <p:nvPr/>
        </p:nvSpPr>
        <p:spPr>
          <a:xfrm>
            <a:off x="5303520" y="1508760"/>
            <a:ext cx="642823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pic>
        <p:nvPicPr>
          <p:cNvPr id="14" name="Picture 14" descr="ER diagram of Heirlo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555833"/>
            <a:ext cx="6217920" cy="2649055"/>
          </a:xfrm>
          <a:prstGeom prst="rect">
            <a:avLst/>
          </a:prstGeom>
        </p:spPr>
      </p:pic>
      <p:sp>
        <p:nvSpPr>
          <p:cNvPr id="15" name="Database notes 15"/>
          <p:cNvSpPr txBox="1"/>
          <p:nvPr/>
        </p:nvSpPr>
        <p:spPr>
          <a:xfrm>
            <a:off x="5303520" y="4480560"/>
            <a:ext cx="642823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400" b="1" i="0" dirty="0">
                <a:solidFill>
                  <a:srgbClr val="262626"/>
                </a:solidFill>
              </a:rPr>
              <a:t>Six tables: </a:t>
            </a:r>
            <a:r>
              <a:rPr lang="en-IN" sz="1400" b="0" i="0" dirty="0">
                <a:solidFill>
                  <a:srgbClr val="262626"/>
                </a:solidFill>
              </a:rPr>
              <a:t>Student, Course, Resource, Knowledge Base, AI Chat Log and Performance.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400" b="1" i="0" dirty="0">
                <a:solidFill>
                  <a:srgbClr val="262626"/>
                </a:solidFill>
              </a:rPr>
              <a:t>One-to-many links </a:t>
            </a:r>
            <a:r>
              <a:rPr lang="en-IN" sz="1400" b="0" i="0" dirty="0">
                <a:solidFill>
                  <a:srgbClr val="262626"/>
                </a:solidFill>
              </a:rPr>
              <a:t>tie chat history, marks and resources to the right student or course.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400" b="1" i="0" dirty="0">
                <a:solidFill>
                  <a:srgbClr val="262626"/>
                </a:solidFill>
              </a:rPr>
              <a:t>Passwords </a:t>
            </a:r>
            <a:r>
              <a:rPr lang="en-IN" sz="1400" b="0" i="0" dirty="0">
                <a:solidFill>
                  <a:srgbClr val="262626"/>
                </a:solidFill>
              </a:rPr>
              <a:t>are stored hashed, never as plain text.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Data Flow Diagrams</a:t>
            </a:r>
          </a:p>
        </p:txBody>
      </p:sp>
      <p:sp>
        <p:nvSpPr>
          <p:cNvPr id="11" name="Diagram panel 11"/>
          <p:cNvSpPr/>
          <p:nvPr/>
        </p:nvSpPr>
        <p:spPr>
          <a:xfrm>
            <a:off x="457200" y="1508760"/>
            <a:ext cx="301752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Diagram label 12"/>
          <p:cNvSpPr txBox="1"/>
          <p:nvPr/>
        </p:nvSpPr>
        <p:spPr>
          <a:xfrm>
            <a:off x="457200" y="158191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Registration</a:t>
            </a:r>
          </a:p>
        </p:txBody>
      </p:sp>
      <p:pic>
        <p:nvPicPr>
          <p:cNvPr id="13" name="Picture 13" descr="Data flow diagram for Reg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83" y="2011680"/>
            <a:ext cx="2121954" cy="4206240"/>
          </a:xfrm>
          <a:prstGeom prst="rect">
            <a:avLst/>
          </a:prstGeom>
        </p:spPr>
      </p:pic>
      <p:sp>
        <p:nvSpPr>
          <p:cNvPr id="14" name="Diagram panel 14"/>
          <p:cNvSpPr/>
          <p:nvPr/>
        </p:nvSpPr>
        <p:spPr>
          <a:xfrm>
            <a:off x="3657600" y="15087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5" name="Diagram label 15"/>
          <p:cNvSpPr txBox="1"/>
          <p:nvPr/>
        </p:nvSpPr>
        <p:spPr>
          <a:xfrm>
            <a:off x="3657600" y="1581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Login</a:t>
            </a:r>
          </a:p>
        </p:txBody>
      </p:sp>
      <p:pic>
        <p:nvPicPr>
          <p:cNvPr id="16" name="Picture 16" descr="Data flow diagram for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0" y="2011680"/>
            <a:ext cx="2804160" cy="4206240"/>
          </a:xfrm>
          <a:prstGeom prst="rect">
            <a:avLst/>
          </a:prstGeom>
        </p:spPr>
      </p:pic>
      <p:sp>
        <p:nvSpPr>
          <p:cNvPr id="17" name="Flow text 17"/>
          <p:cNvSpPr txBox="1"/>
          <p:nvPr/>
        </p:nvSpPr>
        <p:spPr>
          <a:xfrm>
            <a:off x="7498080" y="1508760"/>
            <a:ext cx="4233672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Registration</a:t>
            </a:r>
          </a:p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Validate the email format, check that it is not already registered, hash the password, then store the student record.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Login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Look up the email, compare the hashed password, create a session and open the dashboard. Wrong details return the student to login with a message.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Chatbot Implementation</a:t>
            </a:r>
          </a:p>
        </p:txBody>
      </p:sp>
      <p:sp>
        <p:nvSpPr>
          <p:cNvPr id="11" name="Flow step 11"/>
          <p:cNvSpPr/>
          <p:nvPr/>
        </p:nvSpPr>
        <p:spPr>
          <a:xfrm>
            <a:off x="457200" y="1508760"/>
            <a:ext cx="2011680" cy="17830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37160" tIns="73152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1  Ask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Student types a question</a:t>
            </a:r>
          </a:p>
        </p:txBody>
      </p:sp>
      <p:sp>
        <p:nvSpPr>
          <p:cNvPr id="12" name="Arrow 12"/>
          <p:cNvSpPr/>
          <p:nvPr/>
        </p:nvSpPr>
        <p:spPr>
          <a:xfrm>
            <a:off x="2496312" y="2258568"/>
            <a:ext cx="246888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3" name="Flow step 13"/>
          <p:cNvSpPr/>
          <p:nvPr/>
        </p:nvSpPr>
        <p:spPr>
          <a:xfrm>
            <a:off x="2772918" y="1508760"/>
            <a:ext cx="2011680" cy="178308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37160" tIns="73152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2  Vectorize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TF-IDF vectors for query and entries</a:t>
            </a:r>
          </a:p>
        </p:txBody>
      </p:sp>
      <p:sp>
        <p:nvSpPr>
          <p:cNvPr id="14" name="Arrow 14"/>
          <p:cNvSpPr/>
          <p:nvPr/>
        </p:nvSpPr>
        <p:spPr>
          <a:xfrm>
            <a:off x="4812030" y="2258568"/>
            <a:ext cx="246888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5" name="Flow step 15"/>
          <p:cNvSpPr/>
          <p:nvPr/>
        </p:nvSpPr>
        <p:spPr>
          <a:xfrm>
            <a:off x="5088636" y="1508760"/>
            <a:ext cx="2011680" cy="17830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37160" tIns="73152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3  Compare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Cosine similarity finds the best entry</a:t>
            </a:r>
          </a:p>
        </p:txBody>
      </p:sp>
      <p:sp>
        <p:nvSpPr>
          <p:cNvPr id="16" name="Arrow 16"/>
          <p:cNvSpPr/>
          <p:nvPr/>
        </p:nvSpPr>
        <p:spPr>
          <a:xfrm>
            <a:off x="7127748" y="2258568"/>
            <a:ext cx="246888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7" name="Flow step 17"/>
          <p:cNvSpPr/>
          <p:nvPr/>
        </p:nvSpPr>
        <p:spPr>
          <a:xfrm>
            <a:off x="7404354" y="1508760"/>
            <a:ext cx="2011680" cy="178308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37160" tIns="73152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4  Decide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Score 0.25 or more returns the answer, else a fallback</a:t>
            </a:r>
          </a:p>
        </p:txBody>
      </p:sp>
      <p:sp>
        <p:nvSpPr>
          <p:cNvPr id="18" name="Arrow 18"/>
          <p:cNvSpPr/>
          <p:nvPr/>
        </p:nvSpPr>
        <p:spPr>
          <a:xfrm>
            <a:off x="9443466" y="2258568"/>
            <a:ext cx="246888" cy="2743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9" name="Flow step 19"/>
          <p:cNvSpPr/>
          <p:nvPr/>
        </p:nvSpPr>
        <p:spPr>
          <a:xfrm>
            <a:off x="9720072" y="1508760"/>
            <a:ext cx="2011680" cy="178308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37160" tIns="73152" rIns="109728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600" b="1" i="0" dirty="0">
                <a:solidFill>
                  <a:srgbClr val="C00000"/>
                </a:solidFill>
              </a:rPr>
              <a:t>5  Log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262626"/>
                </a:solidFill>
              </a:rPr>
              <a:t>Query and reply saved in the chat log</a:t>
            </a:r>
          </a:p>
        </p:txBody>
      </p:sp>
      <p:sp>
        <p:nvSpPr>
          <p:cNvPr id="20" name="Why card 20"/>
          <p:cNvSpPr/>
          <p:nvPr/>
        </p:nvSpPr>
        <p:spPr>
          <a:xfrm>
            <a:off x="457200" y="361188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228600" tIns="182880" rIns="182880" bIns="13716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Why TF-IDF?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Simple and transparent, no external API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Answers come from the department's own knowledge base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Faculty improve it by editing entries in the admin panel</a:t>
            </a:r>
          </a:p>
        </p:txBody>
      </p:sp>
      <p:sp>
        <p:nvSpPr>
          <p:cNvPr id="21" name="Code card 21"/>
          <p:cNvSpPr/>
          <p:nvPr/>
        </p:nvSpPr>
        <p:spPr>
          <a:xfrm>
            <a:off x="5852160" y="3611880"/>
            <a:ext cx="5879592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228600" tIns="182880" rIns="182880" bIns="13716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Core matching logic (views.py)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262626"/>
                </a:solidFill>
                <a:latin typeface="Courier New"/>
                <a:cs typeface="Courier New"/>
              </a:rPr>
              <a:t>scores = cosine_similarity(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262626"/>
                </a:solidFill>
                <a:latin typeface="Courier New"/>
                <a:cs typeface="Courier New"/>
              </a:rPr>
              <a:t>    matrix[-1], matrix[:-1]).flatten()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262626"/>
                </a:solidFill>
                <a:latin typeface="Courier New"/>
                <a:cs typeface="Courier New"/>
              </a:rPr>
              <a:t>best = scores.argmax()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262626"/>
                </a:solidFill>
                <a:latin typeface="Courier New"/>
                <a:cs typeface="Courier New"/>
              </a:rPr>
              <a:t>if scores[best] &gt;= THRESHOLD:  # 0.25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IN" sz="1200" b="0" i="0" dirty="0">
                <a:solidFill>
                  <a:srgbClr val="262626"/>
                </a:solidFill>
                <a:latin typeface="Courier New"/>
                <a:cs typeface="Courier New"/>
              </a:rPr>
              <a:t>    reply = entries[best].answer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Output Screens</a:t>
            </a:r>
          </a:p>
        </p:txBody>
      </p:sp>
      <p:sp>
        <p:nvSpPr>
          <p:cNvPr id="11" name="Screenshot frame 11"/>
          <p:cNvSpPr/>
          <p:nvPr/>
        </p:nvSpPr>
        <p:spPr>
          <a:xfrm>
            <a:off x="457200" y="1508760"/>
            <a:ext cx="5486400" cy="2286000"/>
          </a:xfrm>
          <a:prstGeom prst="rect">
            <a:avLst/>
          </a:prstGeom>
          <a:solidFill>
            <a:srgbClr val="F7F7F7"/>
          </a:solidFill>
          <a:ln w="9525">
            <a:solidFill>
              <a:srgbClr val="A6A6A6"/>
            </a:solidFill>
            <a:prstDash val="dash"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Home Page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1" dirty="0">
                <a:solidFill>
                  <a:srgbClr val="595959"/>
                </a:solidFill>
              </a:rPr>
              <a:t>Paste screenshot here</a:t>
            </a:r>
          </a:p>
        </p:txBody>
      </p:sp>
      <p:sp>
        <p:nvSpPr>
          <p:cNvPr id="12" name="Screenshot frame 12"/>
          <p:cNvSpPr/>
          <p:nvPr/>
        </p:nvSpPr>
        <p:spPr>
          <a:xfrm>
            <a:off x="6245352" y="1508760"/>
            <a:ext cx="5486400" cy="2286000"/>
          </a:xfrm>
          <a:prstGeom prst="rect">
            <a:avLst/>
          </a:prstGeom>
          <a:solidFill>
            <a:srgbClr val="F7F7F7"/>
          </a:solidFill>
          <a:ln w="9525">
            <a:solidFill>
              <a:srgbClr val="A6A6A6"/>
            </a:solidFill>
            <a:prstDash val="dash"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AI Chatbot Interface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1" dirty="0">
                <a:solidFill>
                  <a:srgbClr val="595959"/>
                </a:solidFill>
              </a:rPr>
              <a:t>Paste screenshot here</a:t>
            </a:r>
          </a:p>
        </p:txBody>
      </p:sp>
      <p:sp>
        <p:nvSpPr>
          <p:cNvPr id="13" name="Screenshot frame 13"/>
          <p:cNvSpPr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F7F7F7"/>
          </a:solidFill>
          <a:ln w="9525">
            <a:solidFill>
              <a:srgbClr val="A6A6A6"/>
            </a:solidFill>
            <a:prstDash val="dash"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Resource Library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1" dirty="0">
                <a:solidFill>
                  <a:srgbClr val="595959"/>
                </a:solidFill>
              </a:rPr>
              <a:t>Paste screenshot here</a:t>
            </a:r>
          </a:p>
        </p:txBody>
      </p:sp>
      <p:sp>
        <p:nvSpPr>
          <p:cNvPr id="14" name="Screenshot frame 14"/>
          <p:cNvSpPr/>
          <p:nvPr/>
        </p:nvSpPr>
        <p:spPr>
          <a:xfrm>
            <a:off x="6245352" y="4023360"/>
            <a:ext cx="5486400" cy="2286000"/>
          </a:xfrm>
          <a:prstGeom prst="rect">
            <a:avLst/>
          </a:prstGeom>
          <a:solidFill>
            <a:srgbClr val="F7F7F7"/>
          </a:solidFill>
          <a:ln w="9525">
            <a:solidFill>
              <a:srgbClr val="A6A6A6"/>
            </a:solidFill>
            <a:prstDash val="dash"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 dirty="0">
                <a:solidFill>
                  <a:srgbClr val="C00000"/>
                </a:solidFill>
              </a:rPr>
              <a:t>Performance Dashboard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1" dirty="0">
                <a:solidFill>
                  <a:srgbClr val="595959"/>
                </a:solidFill>
              </a:rPr>
              <a:t>Paste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Testing: Key Test Cases</a:t>
            </a:r>
          </a:p>
        </p:txBody>
      </p:sp>
      <p:graphicFrame>
        <p:nvGraphicFramePr>
          <p:cNvPr id="11" name="Test table 11"/>
          <p:cNvGraphicFramePr>
            <a:graphicFrameLocks noGrp="1"/>
          </p:cNvGraphicFramePr>
          <p:nvPr/>
        </p:nvGraphicFramePr>
        <p:xfrm>
          <a:off x="457200" y="1508760"/>
          <a:ext cx="11274552" cy="4700016"/>
        </p:xfrm>
        <a:graphic>
          <a:graphicData uri="http://schemas.openxmlformats.org/drawingml/2006/table">
            <a:tbl>
              <a:tblPr firstRow="1" band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Login with unregistered email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Redirected to login with an error message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Register with existing email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“Email already registered” message shown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Register with new email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Account created, redirected to login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Chatbot: question in knowledge base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Matching answer shown, exchange logged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Chatbot: unrelated question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Fallback message to contact faculty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Open resource library for a course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Resources listed, selected file downloads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Open performance dashboard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Marks, attendance and average shown, low attendance flagged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9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Click logout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262626"/>
                          </a:solidFill>
                        </a:rPr>
                        <a:t>Session ends, logout page shown</a:t>
                      </a:r>
                    </a:p>
                  </a:txBody>
                  <a:tcPr marL="109728" marR="109728" marT="54864" marB="54864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Conclusion and Future Scope</a:t>
            </a:r>
          </a:p>
        </p:txBody>
      </p:sp>
      <p:sp>
        <p:nvSpPr>
          <p:cNvPr id="11" name="Conclusion panel 11"/>
          <p:cNvSpPr/>
          <p:nvPr/>
        </p:nvSpPr>
        <p:spPr>
          <a:xfrm>
            <a:off x="457200" y="150876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2" name="Panel title 12"/>
          <p:cNvSpPr txBox="1"/>
          <p:nvPr/>
        </p:nvSpPr>
        <p:spPr>
          <a:xfrm>
            <a:off x="731520" y="16916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13" name="Conclusion list 13"/>
          <p:cNvSpPr txBox="1"/>
          <p:nvPr/>
        </p:nvSpPr>
        <p:spPr>
          <a:xfrm>
            <a:off x="731520" y="228600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1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Heirloom joins a chatbot, resource library and dashboard in one platform.</a:t>
            </a:r>
          </a:p>
          <a:p>
            <a:pPr marL="228600" indent="-228600" algn="l">
              <a:spcBef>
                <a:spcPts val="0"/>
              </a:spcBef>
              <a:spcAft>
                <a:spcPts val="11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Django, Bootstrap and TF-IDF keep it responsive, secure and easy to maintain.</a:t>
            </a:r>
          </a:p>
          <a:p>
            <a:pPr marL="228600" indent="-228600" algn="l">
              <a:spcBef>
                <a:spcPts val="0"/>
              </a:spcBef>
              <a:spcAft>
                <a:spcPts val="11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Faculty keep answers accurate by curating the knowledge base.</a:t>
            </a:r>
          </a:p>
          <a:p>
            <a:pPr marL="228600" indent="-228600" algn="l">
              <a:spcBef>
                <a:spcPts val="0"/>
              </a:spcBef>
              <a:spcAft>
                <a:spcPts val="11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0" i="0" dirty="0">
                <a:solidFill>
                  <a:srgbClr val="262626"/>
                </a:solidFill>
              </a:rPr>
              <a:t>The dashboard turns marks and attendance into early warnings.</a:t>
            </a:r>
          </a:p>
        </p:txBody>
      </p:sp>
      <p:sp>
        <p:nvSpPr>
          <p:cNvPr id="14" name="Future panel 14"/>
          <p:cNvSpPr/>
          <p:nvPr/>
        </p:nvSpPr>
        <p:spPr>
          <a:xfrm>
            <a:off x="6062472" y="1508760"/>
            <a:ext cx="5669280" cy="4206240"/>
          </a:xfrm>
          <a:prstGeom prst="roundRect">
            <a:avLst>
              <a:gd name="adj" fmla="val 6000"/>
            </a:avLst>
          </a:prstGeom>
          <a:solidFill>
            <a:srgbClr val="FFF3D1"/>
          </a:solidFill>
          <a:ln>
            <a:noFill/>
          </a:ln>
        </p:spPr>
        <p:txBody>
          <a:bodyPr wrap="square" lIns="109728" tIns="73152" rIns="109728" bIns="73152" rtlCol="0" anchor="t">
            <a:noAutofit/>
          </a:bodyPr>
          <a:lstStyle/>
          <a:p>
            <a:endParaRPr lang="en-IN"/>
          </a:p>
        </p:txBody>
      </p:sp>
      <p:sp>
        <p:nvSpPr>
          <p:cNvPr id="15" name="Panel title 15"/>
          <p:cNvSpPr txBox="1"/>
          <p:nvPr/>
        </p:nvSpPr>
        <p:spPr>
          <a:xfrm>
            <a:off x="6336792" y="16916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>
                <a:solidFill>
                  <a:srgbClr val="C00000"/>
                </a:solidFill>
              </a:rPr>
              <a:t>Future Scope</a:t>
            </a:r>
          </a:p>
        </p:txBody>
      </p:sp>
      <p:sp>
        <p:nvSpPr>
          <p:cNvPr id="16" name="Future list 16"/>
          <p:cNvSpPr txBox="1"/>
          <p:nvPr/>
        </p:nvSpPr>
        <p:spPr>
          <a:xfrm>
            <a:off x="6336792" y="2286000"/>
            <a:ext cx="5120640" cy="3840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Language model: </a:t>
            </a:r>
            <a:r>
              <a:rPr lang="en-IN" sz="1600" b="0" i="0" dirty="0">
                <a:solidFill>
                  <a:srgbClr val="262626"/>
                </a:solidFill>
              </a:rPr>
              <a:t>answers grounded in uploaded course material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Predictive analytics: </a:t>
            </a:r>
            <a:r>
              <a:rPr lang="en-IN" sz="1600" b="0" i="0" dirty="0">
                <a:solidFill>
                  <a:srgbClr val="262626"/>
                </a:solidFill>
              </a:rPr>
              <a:t>forecast students at risk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Personalized plans: </a:t>
            </a:r>
            <a:r>
              <a:rPr lang="en-IN" sz="1600" b="0" i="0" dirty="0">
                <a:solidFill>
                  <a:srgbClr val="262626"/>
                </a:solidFill>
              </a:rPr>
              <a:t>study schedules for weak areas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Mobile app: </a:t>
            </a:r>
            <a:r>
              <a:rPr lang="en-IN" sz="1600" b="0" i="0" dirty="0">
                <a:solidFill>
                  <a:srgbClr val="262626"/>
                </a:solidFill>
              </a:rPr>
              <a:t>push notifications on the go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Voice and multilingual: </a:t>
            </a:r>
            <a:r>
              <a:rPr lang="en-IN" sz="1600" b="0" i="0" dirty="0">
                <a:solidFill>
                  <a:srgbClr val="262626"/>
                </a:solidFill>
              </a:rPr>
              <a:t>hands-free, regional languages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600" b="1" i="0" dirty="0">
                <a:solidFill>
                  <a:srgbClr val="262626"/>
                </a:solidFill>
              </a:rPr>
              <a:t>ERP / LMS integration: </a:t>
            </a:r>
            <a:r>
              <a:rPr lang="en-IN" sz="1600" b="0" i="0" dirty="0">
                <a:solidFill>
                  <a:srgbClr val="262626"/>
                </a:solidFill>
              </a:rPr>
              <a:t>no manual entry of marks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92098"/>
            <a:ext cx="11430000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11" name="Reference list 11"/>
          <p:cNvSpPr/>
          <p:nvPr/>
        </p:nvSpPr>
        <p:spPr>
          <a:xfrm>
            <a:off x="457200" y="1508760"/>
            <a:ext cx="11274552" cy="3566160"/>
          </a:xfrm>
          <a:prstGeom prst="roundRect">
            <a:avLst>
              <a:gd name="adj" fmla="val 6000"/>
            </a:avLst>
          </a:prstGeom>
          <a:solidFill>
            <a:srgbClr val="F9ECEC"/>
          </a:solidFill>
          <a:ln>
            <a:noFill/>
          </a:ln>
        </p:spPr>
        <p:txBody>
          <a:bodyPr wrap="square" lIns="365760" tIns="274320" rIns="274320" bIns="18288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https://docs.djangoproject.com/en/4.2/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https://www.w3schools.com/html/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https://www.w3schools.com/css/default.asp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https://getbootstrap.com/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https://www.sqlite.org/index.html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https://scikit-learn.org/stable/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1800" b="0" i="0" dirty="0">
                <a:solidFill>
                  <a:srgbClr val="262626"/>
                </a:solidFill>
              </a:rPr>
              <a:t>https://developer.mozilla.org/en-US/docs/Web/JavaScript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1158</Words>
  <Application>Microsoft Office PowerPoint</Application>
  <PresentationFormat>Widescreen</PresentationFormat>
  <Paragraphs>226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Courier New</vt:lpstr>
      <vt:lpstr>Office Theme</vt:lpstr>
      <vt:lpstr>Heirloom: digital legacy, preservation &amp; access system</vt:lpstr>
      <vt:lpstr>Team Members</vt:lpstr>
      <vt:lpstr>Index</vt:lpstr>
      <vt:lpstr>Project Presentation</vt:lpstr>
      <vt:lpstr>Introduction and Motivation</vt:lpstr>
      <vt:lpstr>Objectives</vt:lpstr>
      <vt:lpstr>Existing System and Limitations</vt:lpstr>
      <vt:lpstr>Proposed System: Key Modules</vt:lpstr>
      <vt:lpstr>Technologies and Requirements</vt:lpstr>
      <vt:lpstr>Use Case Diagrams</vt:lpstr>
      <vt:lpstr>Database Design</vt:lpstr>
      <vt:lpstr>Data Flow Diagrams</vt:lpstr>
      <vt:lpstr>Chatbot Implementation</vt:lpstr>
      <vt:lpstr>Output Screens</vt:lpstr>
      <vt:lpstr>Testing: Key Test Cases</vt:lpstr>
      <vt:lpstr>Conclusion and 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Vigya Upadhyay</dc:creator>
  <cp:lastModifiedBy>Kunal choudhary</cp:lastModifiedBy>
  <cp:revision>9</cp:revision>
  <dcterms:created xsi:type="dcterms:W3CDTF">2025-10-01T15:47:58Z</dcterms:created>
  <dcterms:modified xsi:type="dcterms:W3CDTF">2026-10-10T11:44:37Z</dcterms:modified>
</cp:coreProperties>
</file>